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32"/>
  </p:notesMasterIdLst>
  <p:handoutMasterIdLst>
    <p:handoutMasterId r:id="rId13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E9E8E3"/>
    <a:srgbClr val="E6E6E6"/>
    <a:srgbClr val="E5E4DD"/>
    <a:srgbClr val="000000"/>
    <a:srgbClr val="FFFFFF"/>
    <a:srgbClr val="00A3B1"/>
    <a:srgbClr val="00B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00" autoAdjust="0"/>
    <p:restoredTop sz="94660"/>
  </p:normalViewPr>
  <p:slideViewPr>
    <p:cSldViewPr showGuides="1">
      <p:cViewPr varScale="1">
        <p:scale>
          <a:sx n="92" d="100"/>
          <a:sy n="92" d="100"/>
        </p:scale>
        <p:origin x="176" y="7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89" d="100"/>
          <a:sy n="89" d="100"/>
        </p:scale>
        <p:origin x="325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132" Type="http://schemas.openxmlformats.org/officeDocument/2006/relationships/notesMaster" Target="notesMasters/notesMaster1.xml"/><Relationship Id="rId133" Type="http://schemas.openxmlformats.org/officeDocument/2006/relationships/handoutMaster" Target="handoutMasters/handoutMaster1.xml"/><Relationship Id="rId134" Type="http://schemas.openxmlformats.org/officeDocument/2006/relationships/commentAuthors" Target="commentAuthors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B76C1-5D6A-4BE8-9E13-EB92B623AC55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B8445-AEE5-4B15-A732-6F342B124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967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D35EC-AF0A-4DE7-855D-4EF6B0151212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E8CD-FAC3-447B-AA62-CC577D570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10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07109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40683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66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76394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252291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8"/>
            <a:ext cx="5039442" cy="72000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cxnSp>
        <p:nvCxnSpPr>
          <p:cNvPr id="16" name="Conector recto 15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osición de imagen 17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1215043"/>
            <a:ext cx="5760009" cy="5306407"/>
          </a:xfrm>
          <a:custGeom>
            <a:avLst/>
            <a:gdLst>
              <a:gd name="connsiteX0" fmla="*/ 143999 w 5760009"/>
              <a:gd name="connsiteY0" fmla="*/ 0 h 5306407"/>
              <a:gd name="connsiteX1" fmla="*/ 5616010 w 5760009"/>
              <a:gd name="connsiteY1" fmla="*/ 0 h 5306407"/>
              <a:gd name="connsiteX2" fmla="*/ 5760009 w 5760009"/>
              <a:gd name="connsiteY2" fmla="*/ 143999 h 5306407"/>
              <a:gd name="connsiteX3" fmla="*/ 5760009 w 5760009"/>
              <a:gd name="connsiteY3" fmla="*/ 5162407 h 5306407"/>
              <a:gd name="connsiteX4" fmla="*/ 5616009 w 5760009"/>
              <a:gd name="connsiteY4" fmla="*/ 5306407 h 5306407"/>
              <a:gd name="connsiteX5" fmla="*/ 144000 w 5760009"/>
              <a:gd name="connsiteY5" fmla="*/ 5306407 h 5306407"/>
              <a:gd name="connsiteX6" fmla="*/ 0 w 5760009"/>
              <a:gd name="connsiteY6" fmla="*/ 5162407 h 5306407"/>
              <a:gd name="connsiteX7" fmla="*/ 0 w 5760009"/>
              <a:gd name="connsiteY7" fmla="*/ 143999 h 530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009" h="5306407">
                <a:moveTo>
                  <a:pt x="143999" y="0"/>
                </a:moveTo>
                <a:lnTo>
                  <a:pt x="5616010" y="0"/>
                </a:lnTo>
                <a:lnTo>
                  <a:pt x="5760009" y="143999"/>
                </a:lnTo>
                <a:lnTo>
                  <a:pt x="5760009" y="5162407"/>
                </a:lnTo>
                <a:lnTo>
                  <a:pt x="5616009" y="5306407"/>
                </a:lnTo>
                <a:lnTo>
                  <a:pt x="144000" y="5306407"/>
                </a:lnTo>
                <a:lnTo>
                  <a:pt x="0" y="5162407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8553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2643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2000"/>
            <a:ext cx="12192000" cy="59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479896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2934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578752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 P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68749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Cor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 userDrawn="1"/>
        </p:nvGrpSpPr>
        <p:grpSpPr>
          <a:xfrm>
            <a:off x="2200132" y="-28724"/>
            <a:ext cx="7792835" cy="5589024"/>
            <a:chOff x="2200132" y="1141751"/>
            <a:chExt cx="7792835" cy="5716249"/>
          </a:xfrm>
        </p:grpSpPr>
        <p:cxnSp>
          <p:nvCxnSpPr>
            <p:cNvPr id="14" name="Straight Connector 8">
              <a:extLst>
                <a:ext uri="{FF2B5EF4-FFF2-40B4-BE49-F238E27FC236}">
                  <a16:creationId xmlns:a16="http://schemas.microsoft.com/office/drawing/2014/main" id="{B6A8FCB8-2780-6C99-E9FA-647662FFE9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200132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16BC131E-F13E-4A4E-2CB8-E110B0003A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148341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0">
              <a:extLst>
                <a:ext uri="{FF2B5EF4-FFF2-40B4-BE49-F238E27FC236}">
                  <a16:creationId xmlns:a16="http://schemas.microsoft.com/office/drawing/2014/main" id="{AC5A2131-0258-D95F-F5B8-19FDBACC32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96550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1">
              <a:extLst>
                <a:ext uri="{FF2B5EF4-FFF2-40B4-BE49-F238E27FC236}">
                  <a16:creationId xmlns:a16="http://schemas.microsoft.com/office/drawing/2014/main" id="{7BD79059-6F36-BFA3-7DDC-C0893AD3334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044758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2">
              <a:extLst>
                <a:ext uri="{FF2B5EF4-FFF2-40B4-BE49-F238E27FC236}">
                  <a16:creationId xmlns:a16="http://schemas.microsoft.com/office/drawing/2014/main" id="{413A3459-4321-35B0-994B-CBD8A883F3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92967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26D6439-8725-39F1-4A28-9C2366C65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167009"/>
            <a:ext cx="1778951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B7A62E-2BCA-D963-A460-1783D45222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4755" y="3391225"/>
            <a:ext cx="1778955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A238FCE0-4BCC-E0F8-5E51-41C6FDE6D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2963" y="1167010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F639E73-924B-CDEB-8510-64566A67CB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1173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ECA4C82-8B07-D070-CE1B-E96A1D6742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9381" y="1158772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BA8B66C-5412-698B-F516-A44B62FBE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77592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E37D9BF6-ADF8-B12D-DABC-084AA557DD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47" y="2585149"/>
            <a:ext cx="1778954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E79B31AE-879A-F3D3-0223-72DE2A0026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2964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1C07E858-A18A-B5A1-F4FC-ED46EDA794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4758" y="4870204"/>
            <a:ext cx="177895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41CAE29-FF6A-BA8E-FA2D-95B59457FA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172" y="4870204"/>
            <a:ext cx="1778957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CBD99E4A-9937-9DAD-51BF-769B27DDF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77593" y="4870204"/>
            <a:ext cx="1778956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5A53FC6-34CD-D634-D1A6-D31DF8005B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382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C5BF7C-CE4E-6750-974C-3DB3552AD46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E288E33-F908-7F76-A4EE-BAFD7D40B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55BA414-2DA7-B802-8994-77AA48BB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5529AE7-0644-F63B-6664-38DE8CD0E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CCF51DDB-13C2-3166-9AEA-AD3278D11A2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0509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Lar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3F26EEC-0020-0C86-2DF5-24EC7311C6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78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1DB0F80E-8162-FAD4-EBDF-AEF08722C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78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40C11C35-38FB-AD08-6300-1DABA045F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78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A0B644C-DE96-3324-906B-1D86FAD3D4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78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CFDB9CC-EEDA-1464-D070-38298816DA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252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3E6BDC40-8B07-44FA-94FA-BE03063BD7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5252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DAE16205-E178-5D19-7A9E-D5D1C0C2D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5252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07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2ECF5A5E-2767-C8CC-7F70-69FF83596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5252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08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C8E863FA-111C-8652-3E8D-5FA8973B2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9453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09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E252F4E7-C057-8265-2AFF-DD9E6402EB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453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10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1C071B54-C34C-81FC-8886-0AB96E569E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9453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11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89441B5A-C5B0-3CF8-4A72-32AED17D6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453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12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A8D8D8B9-84E4-A5EF-F781-F6C079126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320" y="1344706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C13947E4-99B4-7AAC-D4E2-44B058ADA5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3229" y="1344706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BDE6CC3C-373A-B999-5D79-FFCFAFEB7F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7430" y="1344706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6DB00DA2-69CE-BC0C-DDEC-418E42272E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320" y="2561170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D703D0F6-7A49-B8AD-09E8-BCA907FA30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3229" y="2561170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83C73E6B-5B9D-5213-4965-03CBE1E10B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7430" y="2561170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19298D4F-2241-442E-E7CB-91F4918804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71320" y="3777634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4C527113-8DC6-9092-73E3-D528F18FE1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3229" y="3777634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B25D650E-E87E-D127-E5BD-1E0387F71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57430" y="3777634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47FB7D-9A35-446B-1889-B65B833601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71320" y="4994099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8F3BF73A-DEC0-5BB6-527D-9A16E2C35EA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3229" y="4994099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135C823-B0CF-87E9-1E61-97A2FA3D88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57430" y="4994099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7696" marR="0" indent="0" algn="l" defTabSz="914377" rtl="0" eaLnBrk="1" fontAlgn="auto" latinLnBrk="0" hangingPunct="1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cxnSp>
        <p:nvCxnSpPr>
          <p:cNvPr id="92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3645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962348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95BC88D-D249-A81C-4223-3B5460582D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3A223C-0062-E4B2-1155-59EF30895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014EB4C-E7E9-A990-8AB7-7853B9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209FDE-5C50-47FA-8776-5FC05E159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366FAE1B-664C-6804-48D1-304EAA5E4C0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640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8639482" cy="1872208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41945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347BAB2-2F9E-1721-E15B-051A29B1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6774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+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1200"/>
            <a:ext cx="8639482" cy="1645205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5200"/>
            <a:ext cx="8639483" cy="45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sp>
        <p:nvSpPr>
          <p:cNvPr id="25" name="Marcador de posición de imagen 24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429001"/>
            <a:ext cx="9001601" cy="2771774"/>
          </a:xfrm>
          <a:custGeom>
            <a:avLst/>
            <a:gdLst>
              <a:gd name="connsiteX0" fmla="*/ 143999 w 9001601"/>
              <a:gd name="connsiteY0" fmla="*/ 0 h 2771774"/>
              <a:gd name="connsiteX1" fmla="*/ 8857601 w 9001601"/>
              <a:gd name="connsiteY1" fmla="*/ 0 h 2771774"/>
              <a:gd name="connsiteX2" fmla="*/ 9001601 w 9001601"/>
              <a:gd name="connsiteY2" fmla="*/ 143999 h 2771774"/>
              <a:gd name="connsiteX3" fmla="*/ 9001601 w 9001601"/>
              <a:gd name="connsiteY3" fmla="*/ 2627774 h 2771774"/>
              <a:gd name="connsiteX4" fmla="*/ 8857600 w 9001601"/>
              <a:gd name="connsiteY4" fmla="*/ 2771774 h 2771774"/>
              <a:gd name="connsiteX5" fmla="*/ 144000 w 9001601"/>
              <a:gd name="connsiteY5" fmla="*/ 2771774 h 2771774"/>
              <a:gd name="connsiteX6" fmla="*/ 0 w 9001601"/>
              <a:gd name="connsiteY6" fmla="*/ 2627774 h 2771774"/>
              <a:gd name="connsiteX7" fmla="*/ 0 w 9001601"/>
              <a:gd name="connsiteY7" fmla="*/ 143999 h 277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1601" h="2771774">
                <a:moveTo>
                  <a:pt x="143999" y="0"/>
                </a:moveTo>
                <a:lnTo>
                  <a:pt x="8857601" y="0"/>
                </a:lnTo>
                <a:lnTo>
                  <a:pt x="9001601" y="143999"/>
                </a:lnTo>
                <a:lnTo>
                  <a:pt x="9001601" y="2627774"/>
                </a:lnTo>
                <a:lnTo>
                  <a:pt x="8857600" y="2771774"/>
                </a:lnTo>
                <a:lnTo>
                  <a:pt x="144000" y="2771774"/>
                </a:lnTo>
                <a:lnTo>
                  <a:pt x="0" y="2627774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286293-07F5-4E95-C5BF-43AFA5C0D14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A42399-46BB-5ADD-2CCB-5AF4E37E8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C72EAA-138C-6078-DB30-15E77237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EE04412-EC0D-4DB5-06EC-46BE99DAB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ACF80FD-132D-D661-6470-17B3B83CA4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9798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 sin ima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6479530" cy="187220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separata secundaria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bg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chemeClr val="bg1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9A7072-40BD-AE57-A5CA-94D1543E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385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+Imagen---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7301" y="334963"/>
            <a:ext cx="1998150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78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5481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imagen 15"/>
          <p:cNvSpPr>
            <a:spLocks noGrp="1"/>
          </p:cNvSpPr>
          <p:nvPr>
            <p:ph type="pic" sz="quarter" idx="16" hasCustomPrompt="1"/>
          </p:nvPr>
        </p:nvSpPr>
        <p:spPr>
          <a:xfrm>
            <a:off x="336552" y="3429003"/>
            <a:ext cx="6674969" cy="2771772"/>
          </a:xfrm>
          <a:custGeom>
            <a:avLst/>
            <a:gdLst>
              <a:gd name="connsiteX0" fmla="*/ 143999 w 6674969"/>
              <a:gd name="connsiteY0" fmla="*/ 0 h 2771772"/>
              <a:gd name="connsiteX1" fmla="*/ 6530968 w 6674969"/>
              <a:gd name="connsiteY1" fmla="*/ 0 h 2771772"/>
              <a:gd name="connsiteX2" fmla="*/ 6674969 w 6674969"/>
              <a:gd name="connsiteY2" fmla="*/ 144000 h 2771772"/>
              <a:gd name="connsiteX3" fmla="*/ 6674969 w 6674969"/>
              <a:gd name="connsiteY3" fmla="*/ 2627772 h 2771772"/>
              <a:gd name="connsiteX4" fmla="*/ 6530968 w 6674969"/>
              <a:gd name="connsiteY4" fmla="*/ 2771772 h 2771772"/>
              <a:gd name="connsiteX5" fmla="*/ 143999 w 6674969"/>
              <a:gd name="connsiteY5" fmla="*/ 2771772 h 2771772"/>
              <a:gd name="connsiteX6" fmla="*/ 0 w 6674969"/>
              <a:gd name="connsiteY6" fmla="*/ 2627773 h 2771772"/>
              <a:gd name="connsiteX7" fmla="*/ 0 w 6674969"/>
              <a:gd name="connsiteY7" fmla="*/ 143999 h 27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969" h="2771772">
                <a:moveTo>
                  <a:pt x="143999" y="0"/>
                </a:moveTo>
                <a:lnTo>
                  <a:pt x="6530968" y="0"/>
                </a:lnTo>
                <a:lnTo>
                  <a:pt x="6674969" y="144000"/>
                </a:lnTo>
                <a:lnTo>
                  <a:pt x="6674969" y="2627772"/>
                </a:lnTo>
                <a:lnTo>
                  <a:pt x="6530968" y="2771772"/>
                </a:lnTo>
                <a:lnTo>
                  <a:pt x="143999" y="2771772"/>
                </a:lnTo>
                <a:lnTo>
                  <a:pt x="0" y="2627773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902F0385-1811-8077-3D24-2BE5366C0F2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7B5BE9F-3707-F66C-3805-0D759BA41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0C503CA-93A0-6E08-D670-3BB3A1DA9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57770C9F-89D2-B362-0944-27F1E8C99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Marcador de pie de página 22">
            <a:extLst>
              <a:ext uri="{FF2B5EF4-FFF2-40B4-BE49-F238E27FC236}">
                <a16:creationId xmlns:a16="http://schemas.microsoft.com/office/drawing/2014/main" id="{B068EF0A-944B-F84F-560E-7455951F135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5AE1A92F-AF49-E38E-CB1F-BA9AAE53E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6551538" cy="172588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Escribe aquí el título separata secundaria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11CB666B-4C20-26BF-BCE8-F6A061D2D2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6551539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</p:spTree>
    <p:extLst>
      <p:ext uri="{BB962C8B-B14F-4D97-AF65-F5344CB8AC3E}">
        <p14:creationId xmlns:p14="http://schemas.microsoft.com/office/powerpoint/2010/main" val="1002521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8391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56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4471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272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0731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2530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5054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035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371C36-3C07-2926-2DF2-88E1A17B72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1260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E91A90-7186-B447-0800-01631DFCA9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2489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Full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/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13D76D-64FF-C76D-9002-C06A401ADC1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408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38F990-2C84-4C3C-4F42-93820FCB45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4467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031AFC-7CAC-27B3-53FB-B27A233E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704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5451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 Blanc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0498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Prun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1174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006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 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287050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74710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0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</p:spTree>
    <p:extLst>
      <p:ext uri="{BB962C8B-B14F-4D97-AF65-F5344CB8AC3E}">
        <p14:creationId xmlns:p14="http://schemas.microsoft.com/office/powerpoint/2010/main" val="2493416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rgbClr val="FFFFFF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3199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 -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6109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Básic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37AF584-F906-D98A-AFEC-228720181C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7743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7AF584-F906-D98A-AFEC-228720181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22FDCA3-D06F-6C71-2915-A97D0857815D}"/>
              </a:ext>
            </a:extLst>
          </p:cNvPr>
          <p:cNvCxnSpPr/>
          <p:nvPr userDrawn="1"/>
        </p:nvCxnSpPr>
        <p:spPr>
          <a:xfrm>
            <a:off x="7611761" y="0"/>
            <a:ext cx="0" cy="6858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9">
            <a:extLst>
              <a:ext uri="{FF2B5EF4-FFF2-40B4-BE49-F238E27FC236}">
                <a16:creationId xmlns:a16="http://schemas.microsoft.com/office/drawing/2014/main" id="{52A6889A-005F-AA8D-AEC9-848421764060}"/>
              </a:ext>
            </a:extLst>
          </p:cNvPr>
          <p:cNvSpPr/>
          <p:nvPr userDrawn="1"/>
        </p:nvSpPr>
        <p:spPr>
          <a:xfrm>
            <a:off x="335360" y="379500"/>
            <a:ext cx="11444115" cy="2940033"/>
          </a:xfrm>
          <a:custGeom>
            <a:avLst/>
            <a:gdLst>
              <a:gd name="connsiteX0" fmla="*/ 95367 w 8583086"/>
              <a:gd name="connsiteY0" fmla="*/ 0 h 2205025"/>
              <a:gd name="connsiteX1" fmla="*/ 8487719 w 8583086"/>
              <a:gd name="connsiteY1" fmla="*/ 0 h 2205025"/>
              <a:gd name="connsiteX2" fmla="*/ 8583086 w 8583086"/>
              <a:gd name="connsiteY2" fmla="*/ 95367 h 2205025"/>
              <a:gd name="connsiteX3" fmla="*/ 8583086 w 8583086"/>
              <a:gd name="connsiteY3" fmla="*/ 2109657 h 2205025"/>
              <a:gd name="connsiteX4" fmla="*/ 8487719 w 8583086"/>
              <a:gd name="connsiteY4" fmla="*/ 2205025 h 2205025"/>
              <a:gd name="connsiteX5" fmla="*/ 95367 w 8583086"/>
              <a:gd name="connsiteY5" fmla="*/ 2205025 h 2205025"/>
              <a:gd name="connsiteX6" fmla="*/ 0 w 8583086"/>
              <a:gd name="connsiteY6" fmla="*/ 2109657 h 2205025"/>
              <a:gd name="connsiteX7" fmla="*/ 0 w 8583086"/>
              <a:gd name="connsiteY7" fmla="*/ 95367 h 220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83086" h="2205025">
                <a:moveTo>
                  <a:pt x="95367" y="0"/>
                </a:moveTo>
                <a:lnTo>
                  <a:pt x="8487719" y="0"/>
                </a:lnTo>
                <a:lnTo>
                  <a:pt x="8583086" y="95367"/>
                </a:lnTo>
                <a:lnTo>
                  <a:pt x="8583086" y="2109657"/>
                </a:lnTo>
                <a:lnTo>
                  <a:pt x="8487719" y="2205025"/>
                </a:lnTo>
                <a:lnTo>
                  <a:pt x="95367" y="2205025"/>
                </a:lnTo>
                <a:lnTo>
                  <a:pt x="0" y="2109657"/>
                </a:lnTo>
                <a:lnTo>
                  <a:pt x="0" y="95367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endParaRPr lang="en-GB" sz="3200" noProof="1"/>
          </a:p>
        </p:txBody>
      </p:sp>
      <p:sp>
        <p:nvSpPr>
          <p:cNvPr id="11" name="Título 10"/>
          <p:cNvSpPr>
            <a:spLocks noGrp="1"/>
          </p:cNvSpPr>
          <p:nvPr>
            <p:ph type="title" hasCustomPrompt="1"/>
          </p:nvPr>
        </p:nvSpPr>
        <p:spPr>
          <a:xfrm>
            <a:off x="838200" y="379499"/>
            <a:ext cx="10515600" cy="294003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>
              <a:lnSpc>
                <a:spcPct val="85000"/>
              </a:lnSpc>
              <a:defRPr sz="8000"/>
            </a:lvl1pPr>
          </a:lstStyle>
          <a:p>
            <a:r>
              <a:rPr lang="es-ES" dirty="0"/>
              <a:t>Título estándar</a:t>
            </a:r>
          </a:p>
        </p:txBody>
      </p:sp>
    </p:spTree>
    <p:extLst>
      <p:ext uri="{BB962C8B-B14F-4D97-AF65-F5344CB8AC3E}">
        <p14:creationId xmlns:p14="http://schemas.microsoft.com/office/powerpoint/2010/main" val="284197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336550" y="6539592"/>
            <a:ext cx="761644" cy="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5" name="Marcador de pie de página 2"/>
          <p:cNvSpPr>
            <a:spLocks noGrp="1"/>
          </p:cNvSpPr>
          <p:nvPr userDrawn="1">
            <p:ph type="ftr" sz="quarter" idx="3"/>
          </p:nvPr>
        </p:nvSpPr>
        <p:spPr>
          <a:xfrm>
            <a:off x="334963" y="6523038"/>
            <a:ext cx="3355708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800"/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6" name="Marcador de título 25"/>
          <p:cNvSpPr>
            <a:spLocks noGrp="1"/>
          </p:cNvSpPr>
          <p:nvPr>
            <p:ph type="title"/>
          </p:nvPr>
        </p:nvSpPr>
        <p:spPr>
          <a:xfrm>
            <a:off x="336550" y="334964"/>
            <a:ext cx="11518900" cy="844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6550" y="1268976"/>
            <a:ext cx="11518900" cy="4931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marL="324000" lvl="1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Segundo nivel</a:t>
            </a:r>
          </a:p>
          <a:p>
            <a:pPr marL="504000" lvl="2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>
          <a:xfrm>
            <a:off x="11136560" y="6523038"/>
            <a:ext cx="718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7982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75" r:id="rId2"/>
    <p:sldLayoutId id="2147483735" r:id="rId3"/>
    <p:sldLayoutId id="2147483736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  <p:sldLayoutId id="2147483692" r:id="rId14"/>
    <p:sldLayoutId id="2147483684" r:id="rId15"/>
    <p:sldLayoutId id="2147483717" r:id="rId16"/>
    <p:sldLayoutId id="2147483693" r:id="rId17"/>
    <p:sldLayoutId id="2147483720" r:id="rId18"/>
    <p:sldLayoutId id="2147483721" r:id="rId19"/>
    <p:sldLayoutId id="2147483722" r:id="rId20"/>
    <p:sldLayoutId id="2147483723" r:id="rId21"/>
    <p:sldLayoutId id="2147483718" r:id="rId22"/>
    <p:sldLayoutId id="2147483719" r:id="rId23"/>
    <p:sldLayoutId id="2147483724" r:id="rId24"/>
    <p:sldLayoutId id="2147483725" r:id="rId25"/>
    <p:sldLayoutId id="2147483697" r:id="rId26"/>
    <p:sldLayoutId id="2147483698" r:id="rId27"/>
    <p:sldLayoutId id="2147483699" r:id="rId28"/>
    <p:sldLayoutId id="2147483705" r:id="rId29"/>
    <p:sldLayoutId id="2147483706" r:id="rId30"/>
    <p:sldLayoutId id="2147483708" r:id="rId31"/>
    <p:sldLayoutId id="2147483761" r:id="rId32"/>
    <p:sldLayoutId id="2147483762" r:id="rId33"/>
    <p:sldLayoutId id="2147483700" r:id="rId34"/>
    <p:sldLayoutId id="2147483713" r:id="rId35"/>
    <p:sldLayoutId id="2147483703" r:id="rId36"/>
    <p:sldLayoutId id="2147483714" r:id="rId37"/>
    <p:sldLayoutId id="2147483715" r:id="rId38"/>
    <p:sldLayoutId id="2147483716" r:id="rId39"/>
    <p:sldLayoutId id="2147483763" r:id="rId4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Arial" panose="020B0604020202020204" pitchFamily="34" charset="0"/>
        <a:buChar char="•"/>
        <a:defRPr lang="es-ES" sz="1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8" userDrawn="1">
          <p15:clr>
            <a:srgbClr val="F26B43"/>
          </p15:clr>
        </p15:guide>
        <p15:guide id="3" orient="horz" pos="4109" userDrawn="1">
          <p15:clr>
            <a:srgbClr val="F26B43"/>
          </p15:clr>
        </p15:guide>
        <p15:guide id="4" orient="horz" pos="211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Alpayana · Junio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de Madurez del Dato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Diagnóstico de la madurez actual y roadmap a nivel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Diagnosticar nivel actual P3M3 / DAMA-DMBOK</a:t>
            </a:r>
          </a:p>
          <a:p>
            <a:pPr/>
            <a:r>
              <a:t>Identificar gaps prioritarios por dimensión</a:t>
            </a:r>
          </a:p>
          <a:p>
            <a:pPr/>
            <a:r>
              <a:t>Proponer roadmap de 18 meses</a:t>
            </a:r>
          </a:p>
          <a:p>
            <a:pPr/>
            <a:r>
              <a:t>Cuantificar inversión y ROI esperado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Alpayana hoy está en nivel 2 promedio según DAMA-DMBOK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2.1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Nivel madurez promedio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Escala 1-5 · Target: 4.0 en 18 meses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DIAGNÓSTICO</a:t>
            </a:r>
          </a:p>
          <a:p>
            <a:r>
              <a:rPr sz="2200" b="1">
                <a:solidFill>
                  <a:srgbClr val="4F062A"/>
                </a:solidFill>
              </a:rPr>
              <a:t>Madurez por dimensión DAMA-DMBOK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78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Dimensión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 18m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Data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Data Quality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ALTO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Data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Master Data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3.5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MEDIO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Data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BAJO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Metadata Mgmt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1.5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3.5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ALTO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GAPS</a:t>
            </a:r>
          </a:p>
          <a:p>
            <a:r>
              <a:rPr sz="2200" b="1">
                <a:solidFill>
                  <a:srgbClr val="4F062A"/>
                </a:solidFill>
              </a:rPr>
              <a:t>3 gaps críticos a cerrar primero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389120"/>
          </a:xfrm>
          <a:prstGeom prst="roundRect">
            <a:avLst/>
          </a:prstGeom>
          <a:solidFill>
            <a:srgbClr val="E8DDD2"/>
          </a:solidFill>
          <a:ln>
            <a:solidFill>
              <a:srgbClr val="E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4F062A"/>
                </a:solidFill>
              </a:rPr>
              <a:t>HOY</a:t>
            </a:r>
          </a:p>
          <a:p>
            <a:r>
              <a:rPr sz="1000">
                <a:solidFill>
                  <a:srgbClr val="444444"/>
                </a:solidFill>
              </a:rPr>
              <a:t>  · Sin data ownership formal</a:t>
            </a:r>
          </a:p>
          <a:p>
            <a:r>
              <a:rPr sz="1000">
                <a:solidFill>
                  <a:srgbClr val="444444"/>
                </a:solidFill>
              </a:rPr>
              <a:t>  · Calidad medida ad-hoc</a:t>
            </a:r>
          </a:p>
          <a:p>
            <a:r>
              <a:rPr sz="1000">
                <a:solidFill>
                  <a:srgbClr val="444444"/>
                </a:solidFill>
              </a:rPr>
              <a:t>  · Sin business glossary</a:t>
            </a:r>
          </a:p>
          <a:p>
            <a:r>
              <a:rPr sz="1000">
                <a:solidFill>
                  <a:srgbClr val="444444"/>
                </a:solidFill>
              </a:rPr>
              <a:t>  · Reportes en silos por área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38912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TARGET 18M</a:t>
            </a:r>
          </a:p>
          <a:p>
            <a:r>
              <a:rPr sz="1000">
                <a:solidFill>
                  <a:srgbClr val="FFFFFF"/>
                </a:solidFill>
              </a:rPr>
              <a:t>  · Data owners por dominio</a:t>
            </a:r>
          </a:p>
          <a:p>
            <a:r>
              <a:rPr sz="1000">
                <a:solidFill>
                  <a:srgbClr val="FFFFFF"/>
                </a:solidFill>
              </a:rPr>
              <a:t>  · SLA de calidad por tabla</a:t>
            </a:r>
          </a:p>
          <a:p>
            <a:r>
              <a:rPr sz="1000">
                <a:solidFill>
                  <a:srgbClr val="FFFFFF"/>
                </a:solidFill>
              </a:rPr>
              <a:t>  · Glossary corporativo vivo</a:t>
            </a:r>
          </a:p>
          <a:p>
            <a:r>
              <a:rPr sz="1000">
                <a:solidFill>
                  <a:srgbClr val="FFFFFF"/>
                </a:solidFill>
              </a:rPr>
              <a:t>  · Capa semántica unificada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METODOLOGÍA</a:t>
            </a:r>
          </a:p>
          <a:p>
            <a:r>
              <a:rPr sz="2200" b="1">
                <a:solidFill>
                  <a:srgbClr val="4F062A"/>
                </a:solidFill>
              </a:rPr>
              <a:t>Roadmap de 18 meses en 4 olas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1371600"/>
            <a:ext cx="26746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1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Quick wins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Q1 · 3 meses</a:t>
            </a:r>
          </a:p>
        </p:txBody>
      </p:sp>
      <p:sp>
        <p:nvSpPr>
          <p:cNvPr id="4" name="Pentagon 3"/>
          <p:cNvSpPr/>
          <p:nvPr/>
        </p:nvSpPr>
        <p:spPr>
          <a:xfrm>
            <a:off x="3314700" y="1371600"/>
            <a:ext cx="2674620" cy="1828800"/>
          </a:xfrm>
          <a:prstGeom prst="homePlate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2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Foundations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Q2-Q3 · 6 meses</a:t>
            </a:r>
          </a:p>
        </p:txBody>
      </p:sp>
      <p:sp>
        <p:nvSpPr>
          <p:cNvPr id="5" name="Pentagon 4"/>
          <p:cNvSpPr/>
          <p:nvPr/>
        </p:nvSpPr>
        <p:spPr>
          <a:xfrm>
            <a:off x="6172200" y="1371600"/>
            <a:ext cx="26746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3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Scale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Q4-Q5 · 6 meses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29700" y="1371600"/>
            <a:ext cx="2674620" cy="1828800"/>
          </a:xfrm>
          <a:prstGeom prst="roundRect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4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Optimize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Q6 · 3 meses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ROADMAP</a:t>
            </a:r>
          </a:p>
          <a:p>
            <a:r>
              <a:rPr sz="2200" b="1">
                <a:solidFill>
                  <a:srgbClr val="4F062A"/>
                </a:solidFill>
              </a:rPr>
              <a:t>Iniciativas por ola con ROI estimado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Iniciativa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Ola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Inversión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ROI esperado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Data Governance Council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$45K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Baseline gobierno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Business Glossary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$30K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Reduce ambigüedad 60%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Quality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$80K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Reduce errores 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Master Data Hub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$220K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Single source of truth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Capa semántica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$150K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Self-service 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Inversión total estimada del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$525K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Inversión total 18 meses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ROI proyectado payback 24 meses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EQUIPO</a:t>
            </a:r>
          </a:p>
          <a:p>
            <a:r>
              <a:rPr sz="2200" b="1">
                <a:solidFill>
                  <a:srgbClr val="4F062A"/>
                </a:solidFill>
              </a:rPr>
              <a:t>Equipo del assessment (10 semanas)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229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Rol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Dedicación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QA + sponsor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Manager DAMA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Lidera assessment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 Sr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Diagnóstico Q1-Q4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 Sr Governance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Diagnóstico G1-G3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INVERSIÓN ASSESSMENT</a:t>
            </a:r>
          </a:p>
          <a:p>
            <a:r>
              <a:rPr sz="2200" b="1">
                <a:solidFill>
                  <a:srgbClr val="4F062A"/>
                </a:solidFill>
              </a:rPr>
              <a:t>USD 95,000 · 10 semanas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229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Concepto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Honorarios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Hito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Discovery + entrevistas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Diagnóstico DAMA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45,000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7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Roadmap + business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95,000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444444"/>
                </a:solidFill>
              </a:rPr>
              <a:t>Vigencia 30 días · IGV no incluido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F062A"/>
                </a:solidFill>
              </a:rPr>
              <a:t>Empecemos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91440" cy="2286000"/>
          </a:xfrm>
          <a:prstGeom prst="rect">
            <a:avLst/>
          </a:prstGeom>
          <a:solidFill>
            <a:srgbClr val="C82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4F062A"/>
                </a:solidFill>
              </a:rPr>
              <a:t>"No se puede gestionar lo que no se mide. Empezar bien es ganar 6 meses."</a:t>
            </a:r>
          </a:p>
          <a:p>
            <a:r>
              <a:rPr sz="1100">
                <a:solidFill>
                  <a:srgbClr val="444444"/>
                </a:solidFill>
              </a:rPr>
              <a:t>— Minsait Data Practice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DRA THEME">
  <a:themeElements>
    <a:clrScheme name="MINSAIT COLORS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INDRA Fonts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180000" rIns="180000" bIns="180000" rtlCol="0" anchor="t" anchorCtr="0"/>
      <a:lstStyle>
        <a:defPPr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MINSAIT_v2_16122024 (1)" id="{3BD2A23A-B48E-4C4C-B5C5-01D5CBA66CB0}" vid="{C4EB3149-EAE4-7749-845C-D157ED4927A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7765</Words>
  <Application>Microsoft Macintosh PowerPoint</Application>
  <PresentationFormat>Panorámica</PresentationFormat>
  <Paragraphs>1111</Paragraphs>
  <Slides>130</Slides>
  <Notes>20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130</vt:i4>
      </vt:variant>
    </vt:vector>
  </HeadingPairs>
  <TitlesOfParts>
    <vt:vector size="137" baseType="lpstr">
      <vt:lpstr>Aptos</vt:lpstr>
      <vt:lpstr>Arial</vt:lpstr>
      <vt:lpstr>Calibri</vt:lpstr>
      <vt:lpstr>ForFuture Sans</vt:lpstr>
      <vt:lpstr>ForFuture Sans Medium</vt:lpstr>
      <vt:lpstr>INDRA THEME</vt:lpstr>
      <vt:lpstr>Diapositiva de think-cell</vt:lpstr>
      <vt:lpstr>Powerpoint Template V.02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Título estándar para diapositiva base</vt:lpstr>
      <vt:lpstr>Presentación de PowerPoint</vt:lpstr>
      <vt:lpstr>Título estándar para diapositiva base</vt:lpstr>
      <vt:lpstr>Presentación de PowerPoint</vt:lpstr>
      <vt:lpstr>Presentación de PowerPoint</vt:lpstr>
      <vt:lpstr>Presentación de PowerPoint</vt:lpstr>
      <vt:lpstr>Powerpoint Ejemplos composición </vt:lpstr>
      <vt:lpstr>Presentación de PowerPoint</vt:lpstr>
      <vt:lpstr>Portadas</vt:lpstr>
      <vt:lpstr>Portadas principales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a better future </vt:lpstr>
      <vt:lpstr>Technology for  a more connected future</vt:lpstr>
      <vt:lpstr>Technology for a better future </vt:lpstr>
      <vt:lpstr>Portadas con partner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 a more connected future </vt:lpstr>
      <vt:lpstr>Technology for a better future</vt:lpstr>
      <vt:lpstr>Portadas con cliente</vt:lpstr>
      <vt:lpstr>Technology for  a more connected future</vt:lpstr>
      <vt:lpstr>Technology for a better future </vt:lpstr>
      <vt:lpstr>Technology for a better future </vt:lpstr>
      <vt:lpstr>Texto legal</vt:lpstr>
      <vt:lpstr>Presentación de PowerPoint</vt:lpstr>
      <vt:lpstr>Índices</vt:lpstr>
      <vt:lpstr>Presentación de PowerPoint</vt:lpstr>
      <vt:lpstr>Presentación de PowerPoint</vt:lpstr>
      <vt:lpstr>Presentación de PowerPoint</vt:lpstr>
      <vt:lpstr>Separatas</vt:lpstr>
      <vt:lpstr>Título de separata principal, lorem ipsum dolor amet</vt:lpstr>
      <vt:lpstr>Título de separata principal, lorem ipsum dolor amet</vt:lpstr>
      <vt:lpstr>Título separata secundaria, lorem ipsum dolor amet</vt:lpstr>
      <vt:lpstr>Título separata secundaria, lorem ipsum dolor amet</vt:lpstr>
      <vt:lpstr>Contenido - Texto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Contenido - Imágenes</vt:lpstr>
      <vt:lpstr>Presentación de PowerPoint</vt:lpstr>
      <vt:lpstr>Presentación de PowerPoint</vt:lpstr>
      <vt:lpstr>Presentación de PowerPoint</vt:lpstr>
      <vt:lpstr>Título de la diapositiva. Lorem ipsum dolor sit amet, consectetuer adipiscing elit</vt:lpstr>
      <vt:lpstr>Contenido - Idea Principal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Conectamos talento, tecnología y negocios para generar crecimiento e impacto positivo y sostenible</vt:lpstr>
      <vt:lpstr>Conectamos talento, tecnología y negocios para generar crecimiento e impacto positivo y sostenible</vt:lpstr>
      <vt:lpstr>Composiciones </vt:lpstr>
      <vt:lpstr>Mapas</vt:lpstr>
      <vt:lpstr>Título de la diapositiva. Lorem ipsum dolor sit amet, consectetuer adipiscing elit</vt:lpstr>
      <vt:lpstr>Título de la diapositiva. Lorem ipsum dolor sit amet, consectetuer adipiscing elit</vt:lpstr>
      <vt:lpstr>Texto + Imagen + Cifras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</vt:lpstr>
      <vt:lpstr>Título de la diapositiva. Lorem ipsum dolor sit amet</vt:lpstr>
      <vt:lpstr>Título de la diapositiva Lorem ipsum dolor sit amet</vt:lpstr>
      <vt:lpstr>Título de la diapositiva</vt:lpstr>
      <vt:lpstr>Título de la diapositiva Lorem ipsum dolor sit amet</vt:lpstr>
      <vt:lpstr>Título estándar para diapositiva base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Título estándar para diapositiva base</vt:lpstr>
      <vt:lpstr>Presentación de PowerPoint</vt:lpstr>
      <vt:lpstr>Título estándar para diapositiva base</vt:lpstr>
      <vt:lpstr>Gráficos + Esquemas + Tablas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</vt:lpstr>
      <vt:lpstr>Cierres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Recursos</vt:lpstr>
      <vt:lpstr>Visores</vt:lpstr>
      <vt:lpstr>Visores</vt:lpstr>
      <vt:lpstr>Contenedores  con chaflán</vt:lpstr>
      <vt:lpstr>Presentación de PowerPoint</vt:lpstr>
      <vt:lpstr>Presentación de PowerPoint</vt:lpstr>
      <vt:lpstr>Presentación de PowerPoint</vt:lpstr>
      <vt:lpstr>Pie de página y numeración</vt:lpstr>
      <vt:lpstr>Presentación de PowerPoint</vt:lpstr>
      <vt:lpstr>Presentación de PowerPoint</vt:lpstr>
      <vt:lpstr>Powerpoint Guidelines</vt:lpstr>
      <vt:lpstr>Colores Corporativos</vt:lpstr>
      <vt:lpstr>Colores Corporativos</vt:lpstr>
      <vt:lpstr>Tipografía Corporativa</vt:lpstr>
      <vt:lpstr>Tipografía Corporativa</vt:lpstr>
      <vt:lpstr>Layout</vt:lpstr>
      <vt:lpstr>Layout</vt:lpstr>
      <vt:lpstr>Presentación de PowerPoint</vt:lpstr>
      <vt:lpstr>Visores</vt:lpstr>
      <vt:lpstr>Visores</vt:lpstr>
      <vt:lpstr>Contenedores</vt:lpstr>
      <vt:lpstr>Contenedores</vt:lpstr>
      <vt:lpstr>Líneas</vt:lpstr>
      <vt:lpstr>Imágenes  y Fotografías</vt:lpstr>
      <vt:lpstr>Imágenes  y Fotografías</vt:lpstr>
      <vt:lpstr>Imágenes  y Fotografías</vt:lpstr>
      <vt:lpstr>Gráficos y  Tablas</vt:lpstr>
      <vt:lpstr>Gráficos y  Tablas</vt:lpstr>
      <vt:lpstr>Animaciones de entrada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V.02</dc:title>
  <dc:creator>Microsoft Office User</dc:creator>
  <cp:lastModifiedBy>Microsoft Office User</cp:lastModifiedBy>
  <cp:revision>2</cp:revision>
  <dcterms:created xsi:type="dcterms:W3CDTF">2025-02-24T10:29:14Z</dcterms:created>
  <dcterms:modified xsi:type="dcterms:W3CDTF">2025-02-24T10:37:13Z</dcterms:modified>
</cp:coreProperties>
</file>