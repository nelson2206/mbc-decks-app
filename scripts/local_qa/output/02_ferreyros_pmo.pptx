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Ferreyros · Junio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 Avanzada · Project Acceleration Hub 2.0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Reducir desviación de cronograma 50% en 6 meses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Implantar PMO Avanzada P3M3 nivel 4</a:t>
            </a:r>
          </a:p>
          <a:p>
            <a:pPr/>
            <a:r>
              <a:t>Estandarizar gestión de portfolio de 80+ proyectos</a:t>
            </a:r>
          </a:p>
          <a:p>
            <a:pPr/>
            <a:r>
              <a:t>Visibilidad ejecutiva en tiempo real</a:t>
            </a:r>
          </a:p>
          <a:p>
            <a:pPr/>
            <a:r>
              <a:t>Curva de aprendizaje del equipo de PMOs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· Diagnóstico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Ferreyros opera 80+ proyectos con desviación promedio de 23%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Portfolio actual: 80 proyectos activos en 5 unidades</a:t>
            </a:r>
          </a:p>
          <a:p>
            <a:r>
              <a:rPr sz="1300">
                <a:solidFill>
                  <a:srgbClr val="444444"/>
                </a:solidFill>
              </a:rPr>
              <a:t>· SPI promedio: 0.83 (objetivo: 0.95+)</a:t>
            </a:r>
          </a:p>
          <a:p>
            <a:r>
              <a:rPr sz="1300">
                <a:solidFill>
                  <a:srgbClr val="444444"/>
                </a:solidFill>
              </a:rPr>
              <a:t>· CPI promedio: 0.79 (objetivo: 0.95+)</a:t>
            </a:r>
          </a:p>
          <a:p>
            <a:r>
              <a:rPr sz="1300">
                <a:solidFill>
                  <a:srgbClr val="444444"/>
                </a:solidFill>
              </a:rPr>
              <a:t>· Tiempo promedio para detectar desvío: 4 semanas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23%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Desviación promedio cronograma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vs benchmark sector minería 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Fuente: análisis Minsait sobre data PMO Ferreyros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01 · DIAGNÓSTICO</a:t>
            </a:r>
          </a:p>
          <a:p>
            <a:r>
              <a:rPr sz="2200" b="1">
                <a:solidFill>
                  <a:srgbClr val="4F062A"/>
                </a:solidFill>
              </a:rPr>
              <a:t>De PMO básica a PMO Avanzada P3M3 nivel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PMO ACTUAL (NIVEL 2)</a:t>
            </a:r>
          </a:p>
          <a:p>
            <a:r>
              <a:rPr sz="1000">
                <a:solidFill>
                  <a:srgbClr val="444444"/>
                </a:solidFill>
              </a:rPr>
              <a:t>  · Reportes manuales mensuales</a:t>
            </a:r>
          </a:p>
          <a:p>
            <a:r>
              <a:rPr sz="1000">
                <a:solidFill>
                  <a:srgbClr val="444444"/>
                </a:solidFill>
              </a:rPr>
              <a:t>  · Métricas inconsistentes</a:t>
            </a:r>
          </a:p>
          <a:p>
            <a:r>
              <a:rPr sz="1000">
                <a:solidFill>
                  <a:srgbClr val="444444"/>
                </a:solidFill>
              </a:rPr>
              <a:t>  · Sin gobierno de portfolio</a:t>
            </a:r>
          </a:p>
          <a:p>
            <a:r>
              <a:rPr sz="1000">
                <a:solidFill>
                  <a:srgbClr val="444444"/>
                </a:solidFill>
              </a:rPr>
              <a:t>  · Capacidad reactiva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PMO AVANZADA (NIVEL 4)</a:t>
            </a:r>
          </a:p>
          <a:p>
            <a:r>
              <a:rPr sz="1000">
                <a:solidFill>
                  <a:srgbClr val="FFFFFF"/>
                </a:solidFill>
              </a:rPr>
              <a:t>  · Dashboards en tiempo real</a:t>
            </a:r>
          </a:p>
          <a:p>
            <a:r>
              <a:rPr sz="1000">
                <a:solidFill>
                  <a:srgbClr val="FFFFFF"/>
                </a:solidFill>
              </a:rPr>
              <a:t>  · KPIs estandarizados</a:t>
            </a:r>
          </a:p>
          <a:p>
            <a:r>
              <a:rPr sz="1000">
                <a:solidFill>
                  <a:srgbClr val="FFFFFF"/>
                </a:solidFill>
              </a:rPr>
              <a:t>  · Comité ejecutivo de portfolio</a:t>
            </a:r>
          </a:p>
          <a:p>
            <a:r>
              <a:rPr sz="1000">
                <a:solidFill>
                  <a:srgbClr val="FFFFFF"/>
                </a:solidFill>
              </a:rPr>
              <a:t>  · Capacidad predictiva con 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· Propuesta de valor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02 · PROPUESTA</a:t>
            </a:r>
          </a:p>
          <a:p>
            <a:r>
              <a:rPr sz="2200" b="1">
                <a:solidFill>
                  <a:srgbClr val="4F062A"/>
                </a:solidFill>
              </a:rPr>
              <a:t>3 pilares para llevar a Ferreyros a PMO Avanzada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3627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Gobierno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Comité ejecutivo + cadencia</a:t>
            </a:r>
          </a:p>
        </p:txBody>
      </p:sp>
      <p:sp>
        <p:nvSpPr>
          <p:cNvPr id="4" name="Pentagon 3"/>
          <p:cNvSpPr/>
          <p:nvPr/>
        </p:nvSpPr>
        <p:spPr>
          <a:xfrm>
            <a:off x="4267200" y="1371600"/>
            <a:ext cx="3627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Procesos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Estándares por tipología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77200" y="1371600"/>
            <a:ext cx="3627120" cy="18288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Tecnología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Dashboards + IA predictiva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02 · PROPUESTA</a:t>
            </a:r>
          </a:p>
          <a:p>
            <a:r>
              <a:rPr sz="2200" b="1">
                <a:solidFill>
                  <a:srgbClr val="4F062A"/>
                </a:solidFill>
              </a:rPr>
              <a:t>Resultados esperados al cierre del programa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229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Línea base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sem 24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sem 52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SPI promedio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0.95+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CPI promedio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0.79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0.88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0.95+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Tiempo a detectar desvío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 sem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 sem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 sem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Proyectos con risk register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45%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· Metodología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03 · METODOLOGÍA</a:t>
            </a:r>
          </a:p>
          <a:p>
            <a:r>
              <a:rPr sz="2200" b="1">
                <a:solidFill>
                  <a:srgbClr val="4F062A"/>
                </a:solidFill>
              </a:rPr>
              <a:t>Framework de 5 fases en 24 semanas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2103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Diagnóstico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4 semanas</a:t>
            </a:r>
          </a:p>
        </p:txBody>
      </p:sp>
      <p:sp>
        <p:nvSpPr>
          <p:cNvPr id="4" name="Pentagon 3"/>
          <p:cNvSpPr/>
          <p:nvPr/>
        </p:nvSpPr>
        <p:spPr>
          <a:xfrm>
            <a:off x="2743200" y="1371600"/>
            <a:ext cx="2103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Diseño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6 semanas</a:t>
            </a:r>
          </a:p>
        </p:txBody>
      </p:sp>
      <p:sp>
        <p:nvSpPr>
          <p:cNvPr id="5" name="Pentagon 4"/>
          <p:cNvSpPr/>
          <p:nvPr/>
        </p:nvSpPr>
        <p:spPr>
          <a:xfrm>
            <a:off x="5029200" y="1371600"/>
            <a:ext cx="2103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Implementación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8 semanas</a:t>
            </a:r>
          </a:p>
        </p:txBody>
      </p:sp>
      <p:sp>
        <p:nvSpPr>
          <p:cNvPr id="6" name="Pentagon 5"/>
          <p:cNvSpPr/>
          <p:nvPr/>
        </p:nvSpPr>
        <p:spPr>
          <a:xfrm>
            <a:off x="7315200" y="1371600"/>
            <a:ext cx="2103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4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Adopción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4 semanas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5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Sostenimiento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2 semanas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 · Diagnóstico (semanas 1-4)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· Entrevistas con líderes de proyectos</a:t>
            </a:r>
          </a:p>
          <a:p>
            <a:r>
              <a:rPr sz="1300">
                <a:solidFill>
                  <a:srgbClr val="444444"/>
                </a:solidFill>
              </a:rPr>
              <a:t>· Análisis de portfolio actual y tipologías</a:t>
            </a:r>
          </a:p>
          <a:p>
            <a:r>
              <a:rPr sz="1300">
                <a:solidFill>
                  <a:srgbClr val="444444"/>
                </a:solidFill>
              </a:rPr>
              <a:t>· Audit de procesos PMO existentes</a:t>
            </a:r>
          </a:p>
          <a:p>
            <a:r>
              <a:rPr sz="1300">
                <a:solidFill>
                  <a:srgbClr val="444444"/>
                </a:solidFill>
              </a:rPr>
              <a:t>· Baseline de KPIs y benchmarking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4 sem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Duración fase 1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Partner + Manager + 2 Cons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· Equipo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04 · EQUIPO</a:t>
            </a:r>
          </a:p>
          <a:p>
            <a:r>
              <a:rPr sz="2200" b="1">
                <a:solidFill>
                  <a:srgbClr val="4F062A"/>
                </a:solidFill>
              </a:rPr>
              <a:t>Equipo de 8 profesionales dedicados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Dedicación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18a · Ex-Director PMO Antamina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Sr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12a · PMP + P3M3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10a · Power BI + Azure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Procesos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8a · Lean PMO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7a ·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Jr x3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3-5a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05 · INVERSIÓN</a:t>
            </a:r>
          </a:p>
          <a:p>
            <a:r>
              <a:rPr sz="2200" b="1">
                <a:solidFill>
                  <a:srgbClr val="4F062A"/>
                </a:solidFill>
              </a:rPr>
              <a:t>USD 420,000 · 24 semanas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Honorarios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Hito de pago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 Diagnóstico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 Diseño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10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 Implementación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 Adopción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75,000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22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5 Sostenimiento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Sem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420,000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