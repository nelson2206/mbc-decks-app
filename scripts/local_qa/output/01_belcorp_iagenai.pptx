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2"/>
  </p:notesMasterIdLst>
  <p:handoutMasterIdLst>
    <p:handoutMasterId r:id="rId13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00" autoAdjust="0"/>
    <p:restoredTop sz="94660"/>
  </p:normalViewPr>
  <p:slideViewPr>
    <p:cSldViewPr showGuides="1">
      <p:cViewPr varScale="1">
        <p:scale>
          <a:sx n="92" d="100"/>
          <a:sy n="92" d="100"/>
        </p:scale>
        <p:origin x="176" y="7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132" Type="http://schemas.openxmlformats.org/officeDocument/2006/relationships/notesMaster" Target="notesMasters/notesMaster1.xml"/><Relationship Id="rId133" Type="http://schemas.openxmlformats.org/officeDocument/2006/relationships/handoutMaster" Target="handoutMasters/handoutMaster1.xml"/><Relationship Id="rId134" Type="http://schemas.openxmlformats.org/officeDocument/2006/relationships/commentAuthors" Target="commentAuthors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ási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37AF584-F906-D98A-AFEC-228720181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7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AF584-F906-D98A-AFEC-228720181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611761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9">
            <a:extLst>
              <a:ext uri="{FF2B5EF4-FFF2-40B4-BE49-F238E27FC236}">
                <a16:creationId xmlns:a16="http://schemas.microsoft.com/office/drawing/2014/main" id="{52A6889A-005F-AA8D-AEC9-848421764060}"/>
              </a:ext>
            </a:extLst>
          </p:cNvPr>
          <p:cNvSpPr/>
          <p:nvPr userDrawn="1"/>
        </p:nvSpPr>
        <p:spPr>
          <a:xfrm>
            <a:off x="335360" y="379500"/>
            <a:ext cx="11444115" cy="2940033"/>
          </a:xfrm>
          <a:custGeom>
            <a:avLst/>
            <a:gdLst>
              <a:gd name="connsiteX0" fmla="*/ 95367 w 8583086"/>
              <a:gd name="connsiteY0" fmla="*/ 0 h 2205025"/>
              <a:gd name="connsiteX1" fmla="*/ 8487719 w 8583086"/>
              <a:gd name="connsiteY1" fmla="*/ 0 h 2205025"/>
              <a:gd name="connsiteX2" fmla="*/ 8583086 w 8583086"/>
              <a:gd name="connsiteY2" fmla="*/ 95367 h 2205025"/>
              <a:gd name="connsiteX3" fmla="*/ 8583086 w 8583086"/>
              <a:gd name="connsiteY3" fmla="*/ 2109657 h 2205025"/>
              <a:gd name="connsiteX4" fmla="*/ 8487719 w 8583086"/>
              <a:gd name="connsiteY4" fmla="*/ 2205025 h 2205025"/>
              <a:gd name="connsiteX5" fmla="*/ 95367 w 8583086"/>
              <a:gd name="connsiteY5" fmla="*/ 2205025 h 2205025"/>
              <a:gd name="connsiteX6" fmla="*/ 0 w 8583086"/>
              <a:gd name="connsiteY6" fmla="*/ 2109657 h 2205025"/>
              <a:gd name="connsiteX7" fmla="*/ 0 w 8583086"/>
              <a:gd name="connsiteY7" fmla="*/ 95367 h 22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086" h="2205025">
                <a:moveTo>
                  <a:pt x="95367" y="0"/>
                </a:moveTo>
                <a:lnTo>
                  <a:pt x="8487719" y="0"/>
                </a:lnTo>
                <a:lnTo>
                  <a:pt x="8583086" y="95367"/>
                </a:lnTo>
                <a:lnTo>
                  <a:pt x="8583086" y="2109657"/>
                </a:lnTo>
                <a:lnTo>
                  <a:pt x="8487719" y="2205025"/>
                </a:lnTo>
                <a:lnTo>
                  <a:pt x="95367" y="2205025"/>
                </a:lnTo>
                <a:lnTo>
                  <a:pt x="0" y="2109657"/>
                </a:lnTo>
                <a:lnTo>
                  <a:pt x="0" y="953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endParaRPr lang="en-GB" sz="3200" noProof="1"/>
          </a:p>
        </p:txBody>
      </p:sp>
      <p:sp>
        <p:nvSpPr>
          <p:cNvPr id="11" name="Título 10"/>
          <p:cNvSpPr>
            <a:spLocks noGrp="1"/>
          </p:cNvSpPr>
          <p:nvPr>
            <p:ph type="title" hasCustomPrompt="1"/>
          </p:nvPr>
        </p:nvSpPr>
        <p:spPr>
          <a:xfrm>
            <a:off x="838200" y="379499"/>
            <a:ext cx="10515600" cy="294003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lnSpc>
                <a:spcPct val="85000"/>
              </a:lnSpc>
              <a:defRPr sz="8000"/>
            </a:lvl1pPr>
          </a:lstStyle>
          <a:p>
            <a:r>
              <a:rPr lang="es-ES" dirty="0"/>
              <a:t>Título estándar</a:t>
            </a:r>
          </a:p>
        </p:txBody>
      </p:sp>
    </p:spTree>
    <p:extLst>
      <p:ext uri="{BB962C8B-B14F-4D97-AF65-F5344CB8AC3E}">
        <p14:creationId xmlns:p14="http://schemas.microsoft.com/office/powerpoint/2010/main" val="284197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  <p:sldLayoutId id="214748376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Belcorp · Junio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Formación en IA Generativa con ChatGPT y Gemini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curiosidad sobre IA al uso productivo en 3 meses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Documentar entendimiento de la realidad digital de Belcorp</a:t>
            </a:r>
          </a:p>
          <a:p>
            <a:pPr/>
            <a:r>
              <a:t>Describir arquitectura pedagógica del programa</a:t>
            </a:r>
          </a:p>
          <a:p>
            <a:pPr/>
            <a:r>
              <a:t>Plan de trabajo y cronograma</a:t>
            </a:r>
          </a:p>
          <a:p>
            <a:pPr/>
            <a:r>
              <a:t>Inversión y estructura comercial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01 · Contexto</a:t>
            </a:r>
          </a:p>
          <a:p>
            <a:pPr/>
            <a:r>
              <a:t>02 · Solución técnica</a:t>
            </a:r>
          </a:p>
          <a:p>
            <a:pPr/>
            <a:r>
              <a:t>03 · Metodología</a:t>
            </a:r>
          </a:p>
          <a:p>
            <a:pPr/>
            <a:r>
              <a:t>04 · Equipo</a:t>
            </a:r>
          </a:p>
          <a:p>
            <a:pPr/>
            <a:r>
              <a:t>05 · Inversión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· Contexto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60% de empresas perdieron deals por falta de IA en 2024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Gap se aceleró 5x desde 2022</a:t>
            </a:r>
          </a:p>
          <a:p>
            <a:r>
              <a:rPr sz="1300">
                <a:solidFill>
                  <a:srgbClr val="444444"/>
                </a:solidFill>
              </a:rPr>
              <a:t>· Sectores afectados: belleza, retail, alimentos</a:t>
            </a:r>
          </a:p>
          <a:p>
            <a:r>
              <a:rPr sz="1300">
                <a:solidFill>
                  <a:srgbClr val="444444"/>
                </a:solidFill>
              </a:rPr>
              <a:t>· Empresas con plan formal cierran 2.3x más deals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60%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Empresas con gap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vs 12% en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Fuente: Anthropic State of GenAI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01 · CONTEXTO</a:t>
            </a:r>
          </a:p>
          <a:p>
            <a:r>
              <a:rPr sz="2200" b="1">
                <a:solidFill>
                  <a:srgbClr val="4F062A"/>
                </a:solidFill>
              </a:rPr>
              <a:t>Belcorp tiene 800K consultoras y 600 colaboradores digitales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HOY</a:t>
            </a:r>
          </a:p>
          <a:p>
            <a:r>
              <a:rPr sz="1000">
                <a:solidFill>
                  <a:srgbClr val="444444"/>
                </a:solidFill>
              </a:rPr>
              <a:t>  · Uso espontáneo</a:t>
            </a:r>
          </a:p>
          <a:p>
            <a:r>
              <a:rPr sz="1000">
                <a:solidFill>
                  <a:srgbClr val="444444"/>
                </a:solidFill>
              </a:rPr>
              <a:t>  · Sin guidelines</a:t>
            </a:r>
          </a:p>
          <a:p>
            <a:r>
              <a:rPr sz="1000">
                <a:solidFill>
                  <a:srgbClr val="444444"/>
                </a:solidFill>
              </a:rPr>
              <a:t>  · Riesgo privacidad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DESPUÉS</a:t>
            </a:r>
          </a:p>
          <a:p>
            <a:r>
              <a:rPr sz="1000">
                <a:solidFill>
                  <a:srgbClr val="FFFFFF"/>
                </a:solidFill>
              </a:rPr>
              <a:t>  · Stack auditado</a:t>
            </a:r>
          </a:p>
          <a:p>
            <a:r>
              <a:rPr sz="1000">
                <a:solidFill>
                  <a:srgbClr val="FFFFFF"/>
                </a:solidFill>
              </a:rPr>
              <a:t>  · Playbook por rol</a:t>
            </a:r>
          </a:p>
          <a:p>
            <a:r>
              <a:rPr sz="1000">
                <a:solidFill>
                  <a:srgbClr val="FFFFFF"/>
                </a:solidFill>
              </a:rPr>
              <a:t>  · Compliance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Fuente: Reporte Sostenibilidad Belcorp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· Solución técnica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3 meses · 800 colaboradores · 30+ casos validados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Currículo modular en 4 niveles</a:t>
            </a:r>
          </a:p>
          <a:p>
            <a:r>
              <a:rPr sz="1300">
                <a:solidFill>
                  <a:srgbClr val="444444"/>
                </a:solidFill>
              </a:rPr>
              <a:t>· ChatGPT Enterprise + Gemini for Workspace</a:t>
            </a:r>
          </a:p>
          <a:p>
            <a:r>
              <a:rPr sz="1300">
                <a:solidFill>
                  <a:srgbClr val="444444"/>
                </a:solidFill>
              </a:rPr>
              <a:t>· Casos por unidad: Marketing, E-com, Datos</a:t>
            </a:r>
          </a:p>
          <a:p>
            <a:r>
              <a:rPr sz="1300">
                <a:solidFill>
                  <a:srgbClr val="444444"/>
                </a:solidFill>
              </a:rPr>
              <a:t>· Certificación interna + reporte mensual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800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Capacitados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30+ casos · 4 niveles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02 · SOLUCIÓN</a:t>
            </a:r>
          </a:p>
          <a:p>
            <a:r>
              <a:rPr sz="2200" b="1">
                <a:solidFill>
                  <a:srgbClr val="4F062A"/>
                </a:solidFill>
              </a:rPr>
              <a:t>Stack técnico recomendado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Herramienta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Caso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Costo/mes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ChatGPT 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Generación 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$60/usr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Gemini Workspace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Productividad docs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$30/usr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IT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Claude 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Razonamiento,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$50/usr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Azure AI Studio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Gobierno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IT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· Metodología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03 · METODOLOGÍA</a:t>
            </a:r>
          </a:p>
          <a:p>
            <a:r>
              <a:rPr sz="2200" b="1">
                <a:solidFill>
                  <a:srgbClr val="4F062A"/>
                </a:solidFill>
              </a:rPr>
              <a:t>Framework de 4 fases en 12 semanas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26746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Diagnóstico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Mapa capacidades · 2 sem</a:t>
            </a:r>
          </a:p>
        </p:txBody>
      </p:sp>
      <p:sp>
        <p:nvSpPr>
          <p:cNvPr id="4" name="Pentagon 3"/>
          <p:cNvSpPr/>
          <p:nvPr/>
        </p:nvSpPr>
        <p:spPr>
          <a:xfrm>
            <a:off x="3314700" y="1371600"/>
            <a:ext cx="26746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Diseño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Programa formativo · 3 sem</a:t>
            </a:r>
          </a:p>
        </p:txBody>
      </p:sp>
      <p:sp>
        <p:nvSpPr>
          <p:cNvPr id="5" name="Pentagon 4"/>
          <p:cNvSpPr/>
          <p:nvPr/>
        </p:nvSpPr>
        <p:spPr>
          <a:xfrm>
            <a:off x="6172200" y="1371600"/>
            <a:ext cx="26746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Pilotos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3 waves · 5 sem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9700" y="1371600"/>
            <a:ext cx="2674620" cy="1828800"/>
          </a:xfrm>
          <a:prstGeom prst="roundRect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4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Adopción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Playbook · 2 sem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 · Diagnóstico (sem 1-2)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Entrevistas con líderes de Marketing, E-com, Datos</a:t>
            </a:r>
          </a:p>
          <a:p>
            <a:r>
              <a:rPr sz="1300">
                <a:solidFill>
                  <a:srgbClr val="444444"/>
                </a:solidFill>
              </a:rPr>
              <a:t>· Encuesta baseline a 200 colaboradores</a:t>
            </a:r>
          </a:p>
          <a:p>
            <a:r>
              <a:rPr sz="1300">
                <a:solidFill>
                  <a:srgbClr val="444444"/>
                </a:solidFill>
              </a:rPr>
              <a:t>· Mapa de casos priorizados con ROI</a:t>
            </a:r>
          </a:p>
          <a:p>
            <a:r>
              <a:rPr sz="1300">
                <a:solidFill>
                  <a:srgbClr val="444444"/>
                </a:solidFill>
              </a:rPr>
              <a:t>· 30+ casos validados con sponsor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2 sem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Duración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Manager + 2 Cons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2 · Diseño (sem 3-5)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Currículo de 4 niveles</a:t>
            </a:r>
          </a:p>
          <a:p>
            <a:r>
              <a:rPr sz="1300">
                <a:solidFill>
                  <a:srgbClr val="444444"/>
                </a:solidFill>
              </a:rPr>
              <a:t>· Material adaptado por unidad</a:t>
            </a:r>
          </a:p>
          <a:p>
            <a:r>
              <a:rPr sz="1300">
                <a:solidFill>
                  <a:srgbClr val="444444"/>
                </a:solidFill>
              </a:rPr>
              <a:t>· LMS configurado</a:t>
            </a:r>
          </a:p>
          <a:p>
            <a:r>
              <a:rPr sz="1300">
                <a:solidFill>
                  <a:srgbClr val="444444"/>
                </a:solidFill>
              </a:rPr>
              <a:t>· Validación con sponsor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3 sem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Duración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Manager + 1 Cons + Pedagogía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· Equipo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04 · EQUIPO</a:t>
            </a:r>
          </a:p>
          <a:p>
            <a:r>
              <a:rPr sz="2200" b="1">
                <a:solidFill>
                  <a:srgbClr val="4F062A"/>
                </a:solidFill>
              </a:rPr>
              <a:t>7 profesionales dedicados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Dedicación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20a · Ex-MD GCP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Sponsor +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Manager Sr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12a · GenAI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Lidera programa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Manager Pedag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10a · L&amp;D +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Diseño curricular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Consultor Datos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8a · MLOps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Casos técnicos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Consultor 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7a · Marketing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Casos comerciales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Consultor Jr x2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3-5a · Trainer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Facilitación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· Inversión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05 · INVERSIÓN</a:t>
            </a:r>
          </a:p>
          <a:p>
            <a:r>
              <a:rPr sz="2200" b="1">
                <a:solidFill>
                  <a:srgbClr val="4F062A"/>
                </a:solidFill>
              </a:rPr>
              <a:t>USD 285,000 · facturación por hito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Concepto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Honorarios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Hito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Fase 1 Diagnóstico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Fase 2 Diseño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75,000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26%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5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Fase 3 Pilotos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Fase 4 Adopción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40,000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14%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12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Vigencia 30 días · IGV no incluido · Pago a 30 días del hito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F062A"/>
                </a:solidFill>
              </a:rPr>
              <a:t>Gracias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91440" cy="2286000"/>
          </a:xfrm>
          <a:prstGeom prst="rect">
            <a:avLst/>
          </a:prstGeom>
          <a:solidFill>
            <a:srgbClr val="C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4F062A"/>
                </a:solidFill>
              </a:rPr>
              <a:t>"La IA no reemplaza a tus equipos — los amplifica"</a:t>
            </a:r>
          </a:p>
          <a:p>
            <a:r>
              <a:rPr sz="1100">
                <a:solidFill>
                  <a:srgbClr val="444444"/>
                </a:solidFill>
              </a:rPr>
              <a:t>— Minsait Business Consulting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7765</Words>
  <Application>Microsoft Macintosh PowerPoint</Application>
  <PresentationFormat>Panorámica</PresentationFormat>
  <Paragraphs>1111</Paragraphs>
  <Slides>130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130</vt:i4>
      </vt:variant>
    </vt:vector>
  </HeadingPairs>
  <TitlesOfParts>
    <vt:vector size="137" baseType="lpstr">
      <vt:lpstr>Aptos</vt:lpstr>
      <vt:lpstr>Arial</vt:lpstr>
      <vt:lpstr>Calibri</vt:lpstr>
      <vt:lpstr>ForFuture Sans</vt:lpstr>
      <vt:lpstr>ForFuture Sans Medium</vt:lpstr>
      <vt:lpstr>INDRA THEME</vt:lpstr>
      <vt:lpstr>Diapositiva de think-cell</vt:lpstr>
      <vt:lpstr>Powerpoint Template V.02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 estándar para diapositiva base</vt:lpstr>
      <vt:lpstr>Presentación de PowerPoint</vt:lpstr>
      <vt:lpstr>Título estándar para diapositiva base</vt:lpstr>
      <vt:lpstr>Presentación de PowerPoint</vt:lpstr>
      <vt:lpstr>Presentación de PowerPoint</vt:lpstr>
      <vt:lpstr>Presentación de PowerPoint</vt:lpstr>
      <vt:lpstr>Powerpoint Ejemplos composición </vt:lpstr>
      <vt:lpstr>Presentación de PowerPoint</vt:lpstr>
      <vt:lpstr>Portadas</vt:lpstr>
      <vt:lpstr>Portadas principales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a better future </vt:lpstr>
      <vt:lpstr>Technology for  a more connected future</vt:lpstr>
      <vt:lpstr>Technology for a better future </vt:lpstr>
      <vt:lpstr>Portadas con partner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 a more connected future </vt:lpstr>
      <vt:lpstr>Technology for a better future</vt:lpstr>
      <vt:lpstr>Portadas con cliente</vt:lpstr>
      <vt:lpstr>Technology for  a more connected future</vt:lpstr>
      <vt:lpstr>Technology for a better future </vt:lpstr>
      <vt:lpstr>Technology for a better future </vt:lpstr>
      <vt:lpstr>Texto legal</vt:lpstr>
      <vt:lpstr>Presentación de PowerPoint</vt:lpstr>
      <vt:lpstr>Índices</vt:lpstr>
      <vt:lpstr>Presentación de PowerPoint</vt:lpstr>
      <vt:lpstr>Presentación de PowerPoint</vt:lpstr>
      <vt:lpstr>Presentación de PowerPoint</vt:lpstr>
      <vt:lpstr>Separatas</vt:lpstr>
      <vt:lpstr>Título de separata principal, lorem ipsum dolor amet</vt:lpstr>
      <vt:lpstr>Título de separata principal, lorem ipsum dolor amet</vt:lpstr>
      <vt:lpstr>Título separata secundaria, lorem ipsum dolor amet</vt:lpstr>
      <vt:lpstr>Título separata secundaria, lorem ipsum dolor amet</vt:lpstr>
      <vt:lpstr>Contenido - Texto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Contenido - Imágenes</vt:lpstr>
      <vt:lpstr>Presentación de PowerPoint</vt:lpstr>
      <vt:lpstr>Presentación de PowerPoint</vt:lpstr>
      <vt:lpstr>Presentación de PowerPoint</vt:lpstr>
      <vt:lpstr>Título de la diapositiva. Lorem ipsum dolor sit amet, consectetuer adipiscing elit</vt:lpstr>
      <vt:lpstr>Contenido - Idea Principal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Conectamos talento, tecnología y negocios para generar crecimiento e impacto positivo y sostenible</vt:lpstr>
      <vt:lpstr>Conectamos talento, tecnología y negocios para generar crecimiento e impacto positivo y sostenible</vt:lpstr>
      <vt:lpstr>Composiciones </vt:lpstr>
      <vt:lpstr>Mapas</vt:lpstr>
      <vt:lpstr>Título de la diapositiva. Lorem ipsum dolor sit amet, consectetuer adipiscing elit</vt:lpstr>
      <vt:lpstr>Título de la diapositiva. Lorem ipsum dolor sit amet, consectetuer adipiscing elit</vt:lpstr>
      <vt:lpstr>Texto + Imagen + Cifras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</vt:lpstr>
      <vt:lpstr>Título de la diapositiva. Lorem ipsum dolor sit amet</vt:lpstr>
      <vt:lpstr>Título de la diapositiva Lorem ipsum dolor sit amet</vt:lpstr>
      <vt:lpstr>Título de la diapositiva</vt:lpstr>
      <vt:lpstr>Título de la diapositiva Lorem ipsum dolor sit amet</vt:lpstr>
      <vt:lpstr>Título estándar para diapositiva base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Título estándar para diapositiva base</vt:lpstr>
      <vt:lpstr>Presentación de PowerPoint</vt:lpstr>
      <vt:lpstr>Título estándar para diapositiva base</vt:lpstr>
      <vt:lpstr>Gráficos + Esquemas + Tablas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</vt:lpstr>
      <vt:lpstr>Cierres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Recursos</vt:lpstr>
      <vt:lpstr>Visores</vt:lpstr>
      <vt:lpstr>Visores</vt:lpstr>
      <vt:lpstr>Contenedores  con chaflán</vt:lpstr>
      <vt:lpstr>Presentación de PowerPoint</vt:lpstr>
      <vt:lpstr>Presentación de PowerPoint</vt:lpstr>
      <vt:lpstr>Presentación de PowerPoint</vt:lpstr>
      <vt:lpstr>Pie de página y numeración</vt:lpstr>
      <vt:lpstr>Presentación de PowerPoint</vt:lpstr>
      <vt:lpstr>Presentación de PowerPoint</vt:lpstr>
      <vt:lpstr>Powerpoint Guidelines</vt:lpstr>
      <vt:lpstr>Colores Corporativos</vt:lpstr>
      <vt:lpstr>Colores Corporativos</vt:lpstr>
      <vt:lpstr>Tipografía Corporativa</vt:lpstr>
      <vt:lpstr>Tipografía Corporativa</vt:lpstr>
      <vt:lpstr>Layout</vt:lpstr>
      <vt:lpstr>Layout</vt:lpstr>
      <vt:lpstr>Presentación de PowerPoint</vt:lpstr>
      <vt:lpstr>Visores</vt:lpstr>
      <vt:lpstr>Visores</vt:lpstr>
      <vt:lpstr>Contenedores</vt:lpstr>
      <vt:lpstr>Contenedores</vt:lpstr>
      <vt:lpstr>Líneas</vt:lpstr>
      <vt:lpstr>Imágenes  y Fotografías</vt:lpstr>
      <vt:lpstr>Imágenes  y Fotografías</vt:lpstr>
      <vt:lpstr>Imágenes  y Fotografías</vt:lpstr>
      <vt:lpstr>Gráficos y  Tablas</vt:lpstr>
      <vt:lpstr>Gráficos y  Tablas</vt:lpstr>
      <vt:lpstr>Animaciones de entrada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Microsoft Office User</dc:creator>
  <cp:lastModifiedBy>Microsoft Office User</cp:lastModifiedBy>
  <cp:revision>2</cp:revision>
  <dcterms:created xsi:type="dcterms:W3CDTF">2025-02-24T10:29:14Z</dcterms:created>
  <dcterms:modified xsi:type="dcterms:W3CDTF">2025-02-24T10:37:13Z</dcterms:modified>
</cp:coreProperties>
</file>